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AF6F0"/>
                </a:solidFill>
              </a:rPr>
              <a:t>Evidence-Based Advanced Facial Aesthetics Injectables in Skin &amp; Hair Longevity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C9A25E"/>
                </a:solidFill>
              </a:rPr>
              <a:t>THE DERMAL EXTRACELLULAR MATRIX — CHEMICAL INTELLIGENCE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C9A25E"/>
                </a:solidFill>
              </a:rPr>
              <a:t>Exosomes • Polynucleotides • Biomimetic Peptides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FAF6F0"/>
                </a:solidFill>
              </a:rPr>
              <a:t>2026 Literature Review &amp; CME Activity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FAF6F0"/>
                </a:solidFill>
              </a:rPr>
              <a:t>Dr. Amr Ismail, MD — Founder, 3D Rejuvenation Academy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FAF6F0"/>
                </a:solidFill>
              </a:rPr>
              <a:t>www.3drejuvenationcode.com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Copyright &amp; Accreditation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© 2026 Dr. Amr Ismail, MD. All rights reserved.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Founder — 3D Rejuvenation Academy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3D Rejuvenation Academy — Approved CPD Provider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www.3drejuvenationcode.com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part may be reproduced without written permission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Disclosures &amp; Educational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Content independent and free of commercial bias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Off-label and investigational uses clearly identified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Exosome products NOT approved for injection in most jurisdictions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Educational activity — not a substitute for clinical judgment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Verify local regulations and scope of practice before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Describe dermal ECM architecture and remodeling in skin aging and hair cycling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Explain 'chemical intelligence' — instructive signaling in regenerative injectables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Critically appraise 2026 evidence for exosomes, polynucleotides, biomimetic peptides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Select candidates and design evidence-aligned protocols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Recognize regulatory, safety, and quality-control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CME / CPD Alignment &amp; Completion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Accredited-style enduring material; ~3.0 CPD hours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Step 1: 10-item pretest (unscored self-assessment)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Step 2: Review all modules in sequence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Step 3: 10-item posttest — pass mark ≥ 70%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Certificate issued by 3D Rejuvenation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Methodology of This 2026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Structured search: PubMed, Embase, Cochrane, Scopus (2015–2026)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Priority: RCTs, systematic reviews, meta-analyses, split-face trials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Mechanistic/preclinical data included where clinical evidence immature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Evidence graded by design, sample size, replication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Industry-sponsored trials flagged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The 2026 Landscape of Regenerative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Shift from volumetric correction to biological regeneration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Biostimulators and bioregulators now mainstream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Polynucleotides: fastest-growing injectable class in Europe &amp; Asia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Exosomes: high interest, heavy hype, unresolved regulation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Biomimetic peptides: maturing from cosmeceutical to injectable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Paradigm Shift: From Filling to Instructing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Traditional fillers: passive, space-occupying, temporary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Biostimulators (PLLA, CaHA): scaffold + controlled collagenesis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New generation: instructive molecular signals — ECM chemical intelligence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Goal: restore tissue homeostasis, not just contour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Longevity framing: skin as a regenerating organ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Skin &amp; Hair Longevity: A Unified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Skin aging = ECM degradation + senescence + chronic inflammation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 miniaturization shares dermal papilla ECM dysfunction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Shared hallmarks: inflammaging, oxidative stress, niche decline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biologics target shared upstream drivers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Metrics: cutometry, dermal ultrasound, trichoscopy, PROMs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How to Read the Evidence: Grading in This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 A: multiple RCTs / meta-analysis — practice-changing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 B: single RCT or consistent split-face trials — supportive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 C: observational / case series — hypothesis-generating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 D: preclinical / mechanistic only — investigational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Each module closes with an evidence summary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PRETEST — Questions 1–5 (unscored)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Q1. Most abundant dermal ECM protein: (a) elastin (b) collagen I (c) laminin (d) fibronectin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Q2. PDRN acts mainly via: (a) A2A adenosine receptor (b) GABA-A (c) β2-adrenergic (d) H1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Q3. Exosomes are best defined as: (a) apoptotic bodies (b) 30–150 nm EVs (c) liposomes (d) platelet fragments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Q4. GHK-Cu is primarily a: (a) neurotoxin (b) copper carrier peptide (c) enzyme (d) growth factor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Q5. Senescent fibroblasts damage ECM via: (a) SASP with MMPs (b) excess collagen (c) low VEGF (d) hyperplasia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PRETEST — Questions 6–10 (unscored)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Q6. 'Chemical intelligence' refers to: (a) synthetic chemistry (b) instructive bioactive signals (c) preservatives (d) filler pH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Q7. Injectable exosomes are currently: (a) FDA approved (b) EMA approved (c) not approved for injection in most regions (d) class I devices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Q8. Polynucleotides are polymers of: (a) amino acids (b) nucleotides (c) sugars (d) lipids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Q9. Palmitoyl pentapeptide mimics a fragment of: (a) elastin (b) collagen I (c) keratin (d) melanin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Q10. Best objective hair-response tool: (a) Wood lamp (b) trichoscopy/phototrichogram (c) MRI (d) biopsy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1 — The Dermal Extracellular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The ECM is not scaffolding — it is a signaling organ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~70% of dermal dry weight is collagen (I 80–85%, III 10–15%)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Elastin, fibrillin, GAGs, proteoglycans, glycoproteins complete the matrix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Resident cells: fibroblasts, myofibroblasts, immune cells, stem-cell niches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Every injectable in this review ultimately acts on ECM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ECM Architecture: The Collagen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Collagen I: tensile strength; thick reticular-dermis bundles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Collagen III: fine reticular fibers; high in young &amp; healing skin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Procollagen → cleaved → cross-linked by lysyl oxidase (copper-dependent)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Collagen I:III ratio declines with age and photoaging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Wrinkle depth tracks collagen bundle disorganization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ECM Architecture: Elastin, GAGs &amp; Proteoglycans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Elastic fibers: elastin core + fibrillin microfibrils (~2–4% of dermis)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Solar elastosis: UV-driven dystrophic elastin accumulation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Hyaluronic acid: binds water ~1000× its weight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Decorin, versican, perlecan regulate fibrillogenesis &amp; GF storage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Dermal HA half-life &lt; 24 hours — hydration effects are transient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ECM–Cell Crosstalk &amp; Mechanotransduction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Integrins sense matrix stiffness → FAK/ERK, YAP/TAZ signaling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Fragmented collagen → reduced fibroblast spreading → ↓ collagen synthesis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Self-amplifying loop of matrix loss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CD44: principal HA receptor; modulates inflammation &amp; migration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ECM is a growth-factor reservoir (latent TGF-β complexes)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Intrinsic Aging of the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~1% per year dermal collagen decline from early adulthood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Fibroblast senescence; flattened dermoepidermal junction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Reduced GAG content, hydration, dermal thickness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AGE accumulation → stiff, yellowed, brittle collagen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Estrogen decline accelerates perimenopausal collagen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Photoaging: The Dominant Extrinsic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UV activates AP-1 → ↑ MMP-1, -3, -9 → collagen degradation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UV suppresses TGF-β signaling → ↓ procollagen synthesis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ROS (mitochondrial, NADPH oxidase) mediate damage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Photoaged skin: fragmented collagen + solar elastosis + inflammation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Matrix fragmentation persists for years — 'collagen deficit memory'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Inflammaging &amp; Cellular Senescence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Senescent fibroblasts accumulate with age and UV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SASP: IL-6, IL-8, MMPs, TNF-α degrade neighboring ECM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Senescent cells are metabolically active, not dormant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Inflammaging links skin aging to systemic longevity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Therapeutic angles: senolysis, SASP suppression, niche rejuvenation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The ECM as Therapeutic Target: Intervention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Replace: HA fillers, collagen stimulators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Signal: exosomes, polynucleotides, biomimetic peptides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Protect: antioxidants, MMP inhibition, photoprotection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Remove: senolytic strategies, ablation of damaged matrix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Best outcomes combine ≥2 strategies — matrix-centric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Hair Follicle ECM &amp; the Dermal Papilla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Dermal papilla (DP): specialized ECM-rich signaling hub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DP ECM volume correlates with follicle size and hair diameter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Versican, laminin, collagen VI support DP inductivity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AGA: perifollicular fibrosis + DP ECM shrinkage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Anagen prolongation requires a healthy perifollicular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Wound Healing as the Template for Regeneration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Hemostasis → inflammation → proliferation → remodeling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Fetal scarless healing: high collagen III, high HA, minimal inflammation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Aging shifts healing toward fibrosis and delayed closure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Regenerative injectables recapitulate fetal-like signaling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TGF-β isoform balance (β1/β2 scar vs β3 scarless) is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1 — Evidence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ECM degradation &amp; fibroblast mechanosensing — Level A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Photoaging MMP/AP-1 pathway — Level A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Dermal papilla ECM role in AGA — Level 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SASP/inflammaging as injectable target — Level C–D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Clinical translation via biologics — evolving (Level B–C)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2 — Chemical Intelligence of the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Definition: bioactive molecules that instruct cell behavior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ECM communicates via matrikines, matricryptins, growth factors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Fragments of matrix proteins are themselves signals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Injectables can deliver, mimic, or stimulate these signals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Chemical intelligence = information therapy, not volume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Matrikines: The ECM's Own Peptide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Proteolysis of collagen, elastin, laminin releases signaling fragments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Examples: GHK (from collagen/SPARC), elastin peptides, KTTKS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Act on fibroblast receptors → regulate synthesis &amp; repair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Dose and context determine repair vs inflammation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Biomimetic peptides are engineered matrikine analogues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Key Signaling Pathways for the Aesthetic Injector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TGF-β/Smad: master collagen switch; balance of isoforms matters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Purinergic: adenosine A2A receptor → anti-inflammatory, pro-repair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Integrin/FAK &amp; YAP/TAZ: mechanical-to-chemical conversion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Wnt/β-catenin: follicle cycling and anagen initiation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NF-κB: inflammatory brake/target of many regeneratives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Hormesis &amp; Dose-Response in Regenerative Injectables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Many biologic signals follow biphasic (hormetic) dose-response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Too little: no effect; too much: inflammation or fibrosis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More product ≠ more regeneration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Interval spacing respects cellular response kinetics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Clinical protocols should mirror studied doses, not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Delivery, Bioavailability &amp; the Injection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Intradermal delivery places signals at fibroblast level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Too deep (subcutaneous): wasted on adipose; too superficial: leakage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Particle size, viscosity, and degradation kinetics shape exposure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Microneedling/RF assist delivery of topicals (exosomes, peptides)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Combination with energy devices: timing and sequencing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Synergy &amp; Combination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Exosomes: cargo delivery — instruction set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Polynucleotides: substrate + A2A signaling — permissive environment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Peptides: targeted receptor-level instructions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HA: hydration scaffold supporting all three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Rational stacking = complementary, not redundant,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2 — Evidence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Matrikine biology (GHK, KTTKS, elastin peptides) — Level B–C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Adenosine A2A repair pathway — Level B (human wound data)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Hormetic dosing principle — Level C (extrapolated)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Delivery-plane importance — Level B (injection science)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Combination synergy — largely Level C–D; rational but unproven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3 — Exosomes: Biology &amp; Biogenesis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Extracellular vesicles 30–150 nm of endosomal origin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Formed via multivesicular bodies; released by exocytosis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Distinct from microvesicles and apoptotic bodies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Carry proteins, lipids, mRNA, miRNA from parent cell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Nature's intercellular messaging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Exosome Cargo: The Instruction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miRNAs regulating collagen synthesis, inflammation, pigmentation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Growth factors: TGF-β, VEGF, FGF, EGF (source-dependent)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Enzymes: antioxidant (SOD, catalase) in some preparations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Membrane proteins: CD9, CD63, CD81 (tetraspanin markers)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Cargo = fingerprint of parent cell type and culture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Sources of Aesthetic Exosomes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MSC-derived: adipose, bone marrow, umbilical cord — most studied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Platelet/PRP-derived exosomes — autologous appeal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Plant-derived exosome-like vesicles — cosmetic market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Keratinocyte/fibroblast-derived — niche products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Source determines cargo, potency, safety, and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Mechanisms in Skin Rejuvenation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Fibroblast activation → ↑ collagen I/III, elastin (preclinical)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miRNA-mediated MMP suppression and anti-inflammatory effects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Angiogenesis support; antioxidant enzyme delivery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Melanogenesis modulation — pigmentation applications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Most data Level D; human trials small and short (Level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Exosomes for Hair: Mechanistic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DP cell proliferation via Wnt/β-catenin activation (preclinical)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Prolongation of anagen; resistance to DHT-induced miniaturization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miR-218-5p, miR-100 among implicated cargo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Perifollicular anti-inflammatory and antifibrotic effects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Animal models show hair regrowth comparable to minoxidil (Level 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Skin (2026 Snapshot)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Split-face studies: exosomes + microneedling vs microneedling alone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Reported gains: texture, pore size, erythema recovery, elasticity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Small samples (n≈20–60), short follow-up (≤12 weeks)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Adjuvant post-laser/RF use shows faster re-epithelialization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large independent RCT of injectable exosomes for facial 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Hair (2026 Snapshot)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Small trials of scalp-injected MSC-exosome products for AGA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Reported increases in hair density and thickness at 12–24 weeks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Heterogeneous products, doses, and outcome measures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head-to-head vs minoxidil/finasteride standard of care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Encouraging signal; confirmatory RCTs needed — Level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Formulation, Stability &amp; Quality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Isolation: ultracentrifugation, tangential flow, size exclusion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Characterization: NTA, TEM, Western blot (CD9/CD63/CD81)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Potency assays: the missing link in commercial products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Storage: −80 °C or lyophilized; freeze–thaw degrades cargo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Sterility, endotoxin, mycoplasma testing are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Regulatory Status: The Critical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FDA: no exosome product approved for aesthetic use; injection unapproved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FDA warnings (2019–2020+) after adverse events with unapproved products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EMA: exosomes from human cells = ATMP/biological drug pathway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Cosmetic (topical) exosomes ≠ injectable approval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Legal, ethical, insurance implications of off-framework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Safety Profile &amp; Reported Adverse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Theoretical risks: immunogenicity, infection, tumor-promoting cargo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Contamination risks in poorly controlled manufacturing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Reported events largely tied to unregulated injectable products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Topical/microneedling-adjuvant use: generally mild, transient reactions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Long-term safety data absent — registry participation encouraged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Practical Use: Evidence-Conscious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Where legal: topical/post-procedure application has the best safety margin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Adjuvant to microneedling, fractional laser, RF — recovery acceleration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Injection only within trials or jurisdictions permitting it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Informed consent must state investigational status explicitly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Document product source, lot, and QC certificates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Protocol Patterns Reported in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Post-microneedling topical application, weekly–monthly series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Post-laser application to shorten downtime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Scalp protocols: monthly sessions × 3–6, then maintenance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standardized dosing units across products — a major limitation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Combine with medical-grade skincare and photoprotection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Critical Appraisal: Separating Signal from Hype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Mechanistic plausibility is strong; clinical proof is thin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Publication bias and industry sponsorship pervasive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'Exosome' on the label ≠ characterized exosomes in the vial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Beware extrapolation from wound healing to aesthetic endpoints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Ask: source? characterization? potency? trial registration?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Future Directions (2026 and Beyond)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Engineered exosomes with defined cargo loading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Standardized potency metrics and reference materials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Registered phase II/III trials in skin aging and AGA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Exosome-mimetic synthetic nanovesicles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Regulatory clarification will reshape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3 — Evidence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Biology, cargo, mechanism — Level D–C, robust preclinical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Skin rejuvenation human data — Level 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 (AGA) human data — Level 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Safety of topical/post-procedure use — Level C, reassuring so far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use — investigational; regulatory red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4 — Polynucleotides: Chemistry &amp;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Polymers of nucleotides (DNA fragments), typically salmon/trout-derived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Highly purified, depyrogenated DNA chains (PN)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PDRN: polydeoxyribonucleotide — shorter, drug-grade fraction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Distinct from HA: signaling + substrate, not just hydration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Long clinical heritage in wound care (diabetic ulcers)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Mechanism I: The Adenosine A2A Receptor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PN/PDRN degradation releases nucleosides incl. adenosine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A2A receptor activation → anti-inflammatory, pro-angiogenic, pro-fibroblast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↑ VEGF, ↑ collagen synthesis, ↓ TNF-α/IL-6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Established in human wound-healing studies (Level B)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Explains both skin quality and hair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Mechanism II: Substrate Salvage &amp; ECM Remodeling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Nucleotide salvage pathway feeds DNA/RNA synthesis of proliferating cells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Fibroblast number and activity increase in treated dermis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Histology: ↑ dermal thickness, collagen density, elastic fibers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Hydration via water-binding of the polymer itself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Viscoelastic support distinct from cross-linked HA fillers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Facial Skin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Multiple split-face RCTs: PN vs placebo/comparator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Outcomes: elasticity ↑, roughness ↓, hydration ↑, fine lines ↓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Dermal density gains on ultrasound at 4–12 weeks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GAIS and patient satisfaction consistently favor PN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Evidence grade: Level B — the strongest of our three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Periocular, Neck &amp; Special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Periocular: improved elasticity, fine wrinkles, dark-circle appearance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Neck and décolletage: texture and laxity improvements reported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Hands: dermal thickening and quality gains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Thin, crepey, atrophic skin responds particularly well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Evidence Level B–C; zone-specific trials small but consistent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Hair &amp; Scalp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Pilot studies: PN/PDRN scalp injection in AGA and telogen effluvium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Reported ↑ density and anagen:telogen ratio on trichoscopy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Rationale: A2A angiogenesis + antifibrotic perifollicular effect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Often combined with PRP or minoxidil in practice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 C — promising, needs controlled trials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Products, Concentrations &amp; Dosing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Products differ in PN concentration (e.g., 7.5–20 mg/2 mL) and MW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Typical face: 2 mL per session, intradermal micro-depots or linear threading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Common schedule: 3–4 sessions at 2–4 week intervals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Maintenance: every 3–6 months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Match product indications to licensure in your jurisdiction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Injection Technique &amp; Treatment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Intradermal plane is the target — papule technique acceptable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Micro-depot grid (~0.02–0.05 mL per point) or nappage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Periocular: use purpose-licensed low-viscosity PN products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Scalp: intradermal microinjections across affected zones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Expect transient papules 24–72 h — counsel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Combination Strategies with Polynucleotides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PN + non-cross-linked HA: hydration + bioregeneration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PN + CaHA (hyperdilute): scaffold + signaling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PN post-energy device: healing acceleration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PN + PRP for scalp: complementary growth signaling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Sequence: device first, injectable after re-epithelialization or per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Safety Profile &amp; Contraindications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Excellent safety record over a decade+ of use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Common: transient papules, erythema, pinpoint bruising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Hypersensitivity to fish-derived products — theoretical; screen allergy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Avoid: active infection, pregnancy/lactation (precaution), keloid diathesis caution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granuloma or delayed nodule signal in the literature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Patient Selection &amp;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Ideal: 30–60 yrs, skin quality concerns, crepey texture, early laxity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Periocular rejuvenation where fillers are risky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AGA adjunct in patients declining or failing standard therapy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Set expectations: gradual improvement over weeks, series required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Not a volumizer — pair with fillers if volume is the complaint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Evidence Gaps &amp; Research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Lack of large, independent, multicenter RCTs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No standardized outcome set across trials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Head-to-head vs PRP, vs biostimulators — unknown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Optimal dosing intervals and maintenance — empirical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Long-term (multi-year) outcomes unstudied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4 — Evidence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A2A mechanism &amp; wound-healing base — Level 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Facial skin quality (split-face RCTs) — Level 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Periocular/neck/hands — Level B–C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Hair/scalp — Level 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Safety — Level B, favorable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Strongest-evidence class in this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5 — Biomimetic Peptides: Classes &amp;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Short amino-acid sequences mimicking endogenous signals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Signal peptides: stimulate ECM synthesis (e.g., pal-KTTKS)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Carrier peptides: deliver trace elements (e.g., GHK-Cu)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Neurotransmitter-inhibiting peptides: topical 'botox-like' (argireline)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Enzyme-inhibitor &amp; melanogenesis-modulating peptides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GHK-Cu: The Archetypal Regenerative Peptide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Naturally occurring tripeptide (gly-his-lys) + Cu²⁺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Levels fall ~60% between ages 20 and 60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↑ collagen, elastin, GAGs; ↑ lysyl oxidase &amp; SOD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Anti-inflammatory; resets gene expression toward repair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Topical/microneedle data Level C; injectable use emerging, Level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Signal Peptides: Matrikine Analogues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Palmitoyl pentapeptide-4 (pal-KTTKS): collagen I fragment mimic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Palmitoyl tripeptide-1/7: laminin &amp; collagen signaling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Tripeptide-10 citrulline: fibrillogenesis organizer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RCT evidence for topical anti-wrinkle effect exists (Level B, topical)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Lipidation (palmitoyl) improves skin penetration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Peptides for Hair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Copper peptides: DP cell support, anagen prolongation (preclinical)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Biotinoyl tripeptide-1: follicle anchoring claims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Acetyl tetrapeptide-3: ECM anchoring proteins ↑ (in vitro/company data)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Often paired with minoxidil in leave-on formulations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hair peptide cocktails: anecdotal — Level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Injectable Peptide Formulations: Status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Most peptide evidence is topical; injectables are the frontier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Skin-booster formulations combining peptides + HA proliferating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Mesotherapy-style peptide cocktails: variable evidence, Level C–D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Stability: protease degradation limits longevity — formulation matters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Regulatory classification varies widely by jurisdiction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Clinical Evidence: What Holds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Topical signal peptides: RCT-supported wrinkle improvement (Level B)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GHK-Cu: consistent preclinical + small human studies (Level C)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peptide skin boosters: early split-face data (Level C)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 peptides: mostly company/in-vitro (Level D)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Differentiate INCI-list marketing from clinical trial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Safety &amp; Formulation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Generally excellent topical safety; sensitization uncommon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safety depends on vehicle, sterility, concentration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Copper peptides: avoid excess — pro-oxidant at high local doses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Peptide purity and synthesis quality vary between suppliers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Patch-test new topical regimens; document injectable 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Practical Protocol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Topical peptides: daily leave-on, 8–12 weeks to visible change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Post-procedure application: microneedling/laser recovery support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skin boosters: 2–3 sessions, monthly, then quarterly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Hair: leave-on peptide serums as adjuncts to minoxidil/PRP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Combine with retinoids &amp; photoprotection for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Critical Appraisal: Peptides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Strong chemistry, decent topical trials, weak injectable trials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Concentration in product often far below studied levels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'Contains peptides' is not a clinical claim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Penetration is the limiting step — vehicle is everything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Ask for the study on the final formulation, not the raw molecule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5 — Evidence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Signal peptides, topical anti-wrinkle — Level 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GHK-Cu regenerative biology — Level C (human small)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Injectable peptide boosters — Level 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 peptides — Level 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Peptides = promising adjuncts, not standalone regeneratives (yet)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MODULE 6 — Integration: Building Longevity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Diagnose the deficit: volume vs quality vs inflammation vs follicle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Match agent to deficit and evidence grade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Skin quality: PN first-line; peptides adjunct; exosomes adjuvant (topical)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Hair: standard care first; PN/PRP adjuncts; exosomes investigational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Sequence, document, measure — cutometry, ultrasound, trichoscopy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Combination Case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Photoaged 45F, crepey periorbital skin: PN course → peptide booster maintenance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Post-laser patient: topical exosome adjuvant + strict SPF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Early AGA 35M: finasteride/minoxidil + PN or PRP scalp series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Perimenopausal skin thinning: PN + HA skin booster + hormonal review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Always: photoprotection, retinoid, antioxidant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Safety Governance Across All Three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Source verification &amp; QC documentation for every biologic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Aseptic technique; know vascular anatomy &amp; aspiration debate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Consent: distinguish evidence grades; flag investigational status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Adverse-event log and registry participation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Emergency kit: hyaluronidase, anaphylaxis protocol, referral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Key Takeaways: 2026 State of 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ECM is the target; chemical intelligence is the mechanism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Polynucleotides: strongest human evidence (Level B)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Biomimetic peptides: topical proven; injectables emerging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Exosomes: mechanistically exciting, clinically unproven, injectables unapproved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Measure outcomes; counsel with evidence grades, not hype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POSTTEST — Questions 1–5 (pass mark ≥70%)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Q1. UV-induced collagen breakdown is driven mainly by: (a) AP-1→MMPs (b) melanin (c) filaggrin (d) sebum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Q2. The A2A receptor activation by PDRN causes: (a) fibrosis (b) anti-inflammation &amp; angiogenesis (c) pigmentation (d) apoptosis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Q3. Which class has the strongest human RCT evidence? (a) exosomes (b) polynucleotides (c) injectable peptides (d) plant vesicles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Q4. Exosome characterization markers include: (a) CD9/63/81 (b) HLA-DR only (c) keratin (d) melanopsin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Q5. Typical PN facial course: (a) single session (b) 3–4 sessions q2–4 wks (c) daily (d) yearly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POSTTEST — Questions 6–10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Q6. Dermal papilla ECM volume correlates with: (a) sebum (b) hair caliber (c) pigmentation (d) sweating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Q7. Matrikines are: (a) synthetic toxins (b) ECM-derived signaling fragments (c) lipids (d) antibodies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Q8. GHK-Cu declines with age by roughly: (a) 0% (b) 10% (c) 60% (d) 100%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Q9. Injectable exosomes in most jurisdictions are: (a) approved (b) investigational/unapproved (c) devices (d) cosmetics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A525E"/>
                </a:solidFill>
              </a:rPr>
              <a:t>Q10. Best skin-quality first-line injectable (evidence-graded): (a) exosomes (b) PN (c) peptide cocktails (d) silicone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Answer Key (Pretest &amp; Posttest)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Pretest: 1b 2a 3b 4b 5a | 6b 7c 8b 9b 10b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Posttest: 1a 2b 3b 4a 5b | 6b 7b 8c 9b 10b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Review rationale in the corresponding modules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Retake permitted after re-review of weak areas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Certificates: cpd@3drejuvenationcode.com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Selected References (2015–2026)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Fisher GJ et al. Collagen fragmentation &amp; fibroblast mechanosensing. Arch Dermatol/Am J Pathol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Squadrito F et al. PDRN &amp; adenosine A2A in wound healing. Wound Repair Regen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Khan A et al. Polynucleotides in skin rejuvenation: split-face RCTs. J Cosmet Dermatol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Gentile P, Garcovich S. EVs/exosomes in skin &amp; hair: systematic reviews. J Clin Med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Pickart L, Margolina A. GHK-Cu regenerative biology. Int J Mol Sci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AF6F0"/>
                </a:solidFill>
              </a:rPr>
              <a:t>Closing &amp;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Thank you for completing this CME activity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Dr. Amr Ismail, MD — Founder, 3D Rejuvenation Academy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www.3drejuvenationcode.com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© 2026 All rights reserved — Approved CPD Provider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B1F3E"/>
                </a:solidFill>
              </a:rPr>
              <a:t>▸  Treat the matrix. Respect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25E"/>
                </a:solidFill>
              </a:rPr>
              <a:t>© 2026 Dr. Amr Ismail, MD | 3D Rejuvenation Academy — Approved CPD Provider | www.3drejuvenationcode.com</a:t>
            </a:r>
          </a:p>
          <a:p>
            <a:r>
              <a:rPr sz="900">
                <a:solidFill>
                  <a:srgbClr val="C9A25E"/>
                </a:solidFill>
              </a:rPr>
              <a:t>77 / 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